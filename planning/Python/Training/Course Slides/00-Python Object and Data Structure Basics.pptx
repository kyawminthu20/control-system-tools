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  <p:embeddedFont>
      <p:font typeface="Overpass"/>
      <p:regular r:id="rId68"/>
      <p:bold r:id="rId69"/>
      <p:italic r:id="rId70"/>
      <p:boldItalic r:id="rId71"/>
    </p:embeddedFont>
    <p:embeddedFont>
      <p:font typeface="Source Code Pro"/>
      <p:regular r:id="rId72"/>
      <p:bold r:id="rId73"/>
      <p:italic r:id="rId74"/>
      <p:boldItalic r:id="rId75"/>
    </p:embeddedFont>
    <p:embeddedFont>
      <p:font typeface="Overpass SemiBold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E1919C-EE21-452A-ADA5-0CB48CC182FD}">
  <a:tblStyle styleId="{52E1919C-EE21-452A-ADA5-0CB48CC182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bold.fntdata"/><Relationship Id="rId72" Type="http://schemas.openxmlformats.org/officeDocument/2006/relationships/font" Target="fonts/SourceCodePro-regular.fntdata"/><Relationship Id="rId31" Type="http://schemas.openxmlformats.org/officeDocument/2006/relationships/slide" Target="slides/slide26.xml"/><Relationship Id="rId75" Type="http://schemas.openxmlformats.org/officeDocument/2006/relationships/font" Target="fonts/SourceCodePro-bold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italic.fntdata"/><Relationship Id="rId33" Type="http://schemas.openxmlformats.org/officeDocument/2006/relationships/slide" Target="slides/slide28.xml"/><Relationship Id="rId77" Type="http://schemas.openxmlformats.org/officeDocument/2006/relationships/font" Target="fonts/OverpassSemiBold-bold.fntdata"/><Relationship Id="rId32" Type="http://schemas.openxmlformats.org/officeDocument/2006/relationships/slide" Target="slides/slide27.xml"/><Relationship Id="rId76" Type="http://schemas.openxmlformats.org/officeDocument/2006/relationships/font" Target="fonts/OverpassSemiBold-regular.fntdata"/><Relationship Id="rId35" Type="http://schemas.openxmlformats.org/officeDocument/2006/relationships/slide" Target="slides/slide30.xml"/><Relationship Id="rId79" Type="http://schemas.openxmlformats.org/officeDocument/2006/relationships/font" Target="fonts/OverpassSemiBold-boldItalic.fntdata"/><Relationship Id="rId34" Type="http://schemas.openxmlformats.org/officeDocument/2006/relationships/slide" Target="slides/slide29.xml"/><Relationship Id="rId78" Type="http://schemas.openxmlformats.org/officeDocument/2006/relationships/font" Target="fonts/OverpassSemiBold-italic.fntdata"/><Relationship Id="rId71" Type="http://schemas.openxmlformats.org/officeDocument/2006/relationships/font" Target="fonts/Overpass-boldItalic.fntdata"/><Relationship Id="rId70" Type="http://schemas.openxmlformats.org/officeDocument/2006/relationships/font" Target="fonts/Overpas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Overpass-regular.fntdata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verpas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caef208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caef208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caef208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caef208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aef208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aef208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aef20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aef20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aef208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aef208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aef208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aef208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aef208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aef208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aef208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aef208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aef208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aef208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aef208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caef208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aef208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aef208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aef208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caef208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aef208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aef208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aef2083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aef2083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aef2083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caef208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aef208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aef208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aef2083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aef2083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aef20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aef20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aef208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aef208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aef208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aef208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caef208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caef208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caef208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caef208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caef208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caef208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caef208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caef208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caef2083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caef2083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aef208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caef208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aef2083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aef2083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aef208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aef208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caef208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caef208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caef2083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caef2083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bb14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bb14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dbb14e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dbb14e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dbb14e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dbb14e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dbb14e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dbb14e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caef208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caef208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dbb14e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dbb14e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dd000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dd000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d000b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dd000b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dd000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dd000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dd000b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dd000b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dd000b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dd000b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dd000b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dd000b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dd000b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dd000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d000b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dd000b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dd000b3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dd000b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dd000b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dd000b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dd000b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dd000b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dd000b3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dd000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dd000b3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dd000b3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dd000b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dd000b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dd000b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dd000b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dd000b3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dd000b3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dd000b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1dd000b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dd000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dd000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Object and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of the course we will cover the key data types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your basic building blocks when constructing larger pieces of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all of the possible data types, then we’ll have lectures that go into more detail about each 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6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9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0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1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3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4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{52E1919C-EE21-452A-ADA5-0CB48CC182FD}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number types we will work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which are whole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numbers which are numbers with a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basic math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discuss how to create variables and assign them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Variable Assignments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how to work with numbers, but what do these numbers represent?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to assign these data types a variable name to easily reference them later on in our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Source Code Pro"/>
              <a:buChar char="○"/>
            </a:pPr>
            <a:r>
              <a:rPr b="1" lang="en" sz="2900">
                <a:solidFill>
                  <a:srgbClr val="43434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my_dogs = 2</a:t>
            </a:r>
            <a:endParaRPr b="1" sz="2900">
              <a:solidFill>
                <a:srgbClr val="43434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71" name="Google Shape;17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 can not start with a number.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no spaces in the name, use _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Can't use any of these symbols :'",&lt;&gt;/?|\()!@#$%^&amp;*~-+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considered best practice (PEP8) that names are lowercase.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using words that have special meaning in Python like "list" and "str"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uses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Dynamic Typing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you can reassign variables to different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makes Python very flexible in assigning data types, this is different than other languages that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“Statically-Typed”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" name="Google Shape;19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" name="Google Shape;19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 rot="674">
            <a:off x="2048725" y="3008051"/>
            <a:ext cx="3061200" cy="144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This is okay in Python!</a:t>
            </a:r>
            <a:endParaRPr b="1" sz="3000">
              <a:solidFill>
                <a:srgbClr val="38761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 rot="674">
            <a:off x="2048725" y="3008060"/>
            <a:ext cx="3061200" cy="159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in other Languages!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1;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“Sammy” ;  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//RESULTS IN ERROR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 rot="646">
            <a:off x="791700" y="3429150"/>
            <a:ext cx="6388200" cy="117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Example of Static Typing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(C++)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work with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Faster development 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result in bugs for unexpected data types!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be aware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 are sequences of characters, using the syntax of either single  quotes or double quotes: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'hello'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"Hello"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I don't do that 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Because strings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 means we can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grab sub-sections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notation uses [ ] notation after the string (or variable assigned the string).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allows you to grab a single character from the string...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" name="Google Shape;26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Reverse Index:    0    -4    -3   -2    -1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the index you will go up to (but not include)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size of the “jump” you take.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Indexing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Slicing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Properties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Formatting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Printing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want to “inject” a variable into your string for printing.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my_name = “Jose”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print(“Hello ” + my_name)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multiple ways to format strings for printing variables in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string interpolation.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two methods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.format()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f-strings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(formatted string literals)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are ordered sequences that can hold a variety of object types.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[] brackets and commas to separate objects in the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[1,2,3,4,5]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support indexing and slicing. Lists can be nested and also have a variety of useful methods that can be called off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Dictionaries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are unordered mappings for storing objects. Previously we saw how lists store objects in an ordered sequence, dictionaries use  a key-value pairing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key-value pair allows users to quickly grab objects without needing to know an index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use curly braces and colons to signify the keys and their associated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{'key1':'value1','key2':'value2'}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when to choose a list and when to choose a dictionary?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Objects retrieved by key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Unordered and can not be sorted.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Objects retrieved by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 can be indexed or sliced.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Tuples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very similar to lists. However they have one key difference -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immutability.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an element is inside a tuple, it can not be reassigned.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use parenthesis: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(1,2,3)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unordered collections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Meaning there can only be one representative of the same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Booleans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operators that allow you to convey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very important later on when we deal with control flow and logic!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finish this section, let’s quickly go over how to perform simple I/O with basic .txt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file paths on your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ctrTitle"/>
          </p:nvPr>
        </p:nvSpPr>
        <p:spPr>
          <a:xfrm>
            <a:off x="345450" y="230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your first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download the notebooks from GitHub or as a zip file from the Course Overview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ctrTitle"/>
          </p:nvPr>
        </p:nvSpPr>
        <p:spPr>
          <a:xfrm>
            <a:off x="311700" y="2652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Numbers: Store numerical information and come in two forms: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- Whole Numbers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- Numbers with a decimal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Ordered sequence of characters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 Ordered sequence of objects (mutable)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Tuples: Ordered sequence of objects (immutable)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Dictionary: Key-Value pairing that is unordered.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Documentation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