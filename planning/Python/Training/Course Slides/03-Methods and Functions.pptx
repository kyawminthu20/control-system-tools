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</p:sldIdLst>
  <p:sldSz cy="5143500" cx="9144000"/>
  <p:notesSz cx="6858000" cy="9144000"/>
  <p:embeddedFontLst>
    <p:embeddedFont>
      <p:font typeface="Montserrat"/>
      <p:regular r:id="rId60"/>
      <p:bold r:id="rId61"/>
      <p:italic r:id="rId62"/>
      <p:boldItalic r:id="rId63"/>
    </p:embeddedFont>
    <p:embeddedFont>
      <p:font typeface="Overpass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Montserrat-italic.fntdata"/><Relationship Id="rId61" Type="http://schemas.openxmlformats.org/officeDocument/2006/relationships/font" Target="fonts/Montserrat-bold.fntdata"/><Relationship Id="rId20" Type="http://schemas.openxmlformats.org/officeDocument/2006/relationships/slide" Target="slides/slide16.xml"/><Relationship Id="rId64" Type="http://schemas.openxmlformats.org/officeDocument/2006/relationships/font" Target="fonts/Overpass-regular.fntdata"/><Relationship Id="rId63" Type="http://schemas.openxmlformats.org/officeDocument/2006/relationships/font" Target="fonts/Montserrat-boldItalic.fntdata"/><Relationship Id="rId22" Type="http://schemas.openxmlformats.org/officeDocument/2006/relationships/slide" Target="slides/slide18.xml"/><Relationship Id="rId66" Type="http://schemas.openxmlformats.org/officeDocument/2006/relationships/font" Target="fonts/Overpass-italic.fntdata"/><Relationship Id="rId21" Type="http://schemas.openxmlformats.org/officeDocument/2006/relationships/slide" Target="slides/slide17.xml"/><Relationship Id="rId65" Type="http://schemas.openxmlformats.org/officeDocument/2006/relationships/font" Target="fonts/Overpass-bold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7" Type="http://schemas.openxmlformats.org/officeDocument/2006/relationships/font" Target="fonts/Overpass-boldItalic.fntdata"/><Relationship Id="rId60" Type="http://schemas.openxmlformats.org/officeDocument/2006/relationships/font" Target="fonts/Montserrat-regular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0607e3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10607e3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0607e30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0607e3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891af56f96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891af56f96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91af56f96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91af56f96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891af56f96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891af56f96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91af56f96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91af56f96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91af56f96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91af56f96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891af56f96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891af56f96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91af56f96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91af56f96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91af56f96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91af56f96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891af56f96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891af56f96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891af56f96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891af56f96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891af56f96_2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891af56f96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891af56f9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891af56f9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891af56f96_2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891af56f96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91af56f96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91af56f96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891af56f96_2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891af56f96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891af56f96_2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891af56f96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891af56f96_2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891af56f96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91af56f96_2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91af56f96_2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891af56f96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891af56f96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891af56f96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891af56f96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891af56f96_2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891af56f96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0607e30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0607e30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891af56f96_2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891af56f96_2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0607e30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10607e30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891af56f96_2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891af56f96_2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10607e30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10607e30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891af56f96_2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891af56f96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10607e30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10607e30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891af56f96_2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891af56f96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10607e30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10607e30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891af56f96_2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891af56f96_2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891af56f96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891af56f96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891af56f96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891af56f96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91af56f96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91af56f96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891af56f96_2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891af56f96_2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891af56f96_2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891af56f96_2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891af56f96_2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891af56f96_2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891af56f96_2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891af56f96_2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891af56f96_2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891af56f96_2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891af56f96_2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891af56f96_2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891af56f96_2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891af56f96_2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891af56f96_2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891af56f96_2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10607e30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10607e30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10607e30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10607e30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10607e30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10607e30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10607e30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10607e30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10607e30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10607e30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8982818543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8982818543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10607e30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10607e30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10607e30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10607e30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Built-in objects in Python have a variety of methods you can use!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in a bit more detail how to find methods and how to get information about them.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" name="Google Shape;70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clean repeatable code is a key part of becoming an effective programmer.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Functions 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 us to create blocks of code that can be easily executed many times, without needing to constantly rewrite the entire block of code.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Functions will be a huge leap forward in your capabilities as a Python programmer.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that the problems you are able to solve can also be a lot harder!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" name="Google Shape;85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very important to get practice combining everything you’ve learned so far (control flow, loops, etc.) with functions to become an effective programmer.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" name="Google Shape;92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may be a point in your progress where you may get discouraged or frustrated, do not worry, this is completely normal and very common!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guide you step by step, be patient with yourself and practice, practice, practice!!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" name="Google Shape;99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" name="Google Shape;106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20"/>
          <p:cNvCxnSpPr/>
          <p:nvPr/>
        </p:nvCxnSpPr>
        <p:spPr>
          <a:xfrm rot="10800000">
            <a:off x="2361675" y="1302550"/>
            <a:ext cx="0" cy="29919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20"/>
          <p:cNvCxnSpPr/>
          <p:nvPr/>
        </p:nvCxnSpPr>
        <p:spPr>
          <a:xfrm>
            <a:off x="2361675" y="4294450"/>
            <a:ext cx="6092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20"/>
          <p:cNvSpPr txBox="1"/>
          <p:nvPr/>
        </p:nvSpPr>
        <p:spPr>
          <a:xfrm>
            <a:off x="3354075" y="4359675"/>
            <a:ext cx="4107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Progress in Python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60375" y="1958475"/>
            <a:ext cx="237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Difficulty of Problems You Can Solve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21"/>
          <p:cNvCxnSpPr/>
          <p:nvPr/>
        </p:nvCxnSpPr>
        <p:spPr>
          <a:xfrm rot="10800000">
            <a:off x="2361675" y="1302550"/>
            <a:ext cx="0" cy="29919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1"/>
          <p:cNvCxnSpPr/>
          <p:nvPr/>
        </p:nvCxnSpPr>
        <p:spPr>
          <a:xfrm>
            <a:off x="2361675" y="4294450"/>
            <a:ext cx="6092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1"/>
          <p:cNvSpPr txBox="1"/>
          <p:nvPr/>
        </p:nvSpPr>
        <p:spPr>
          <a:xfrm>
            <a:off x="3354075" y="4359675"/>
            <a:ext cx="4107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Progress in Python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60375" y="1958475"/>
            <a:ext cx="237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Difficulty of Problems You Can Solve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2376150" y="3899875"/>
            <a:ext cx="2266283" cy="387373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watermark.jpg" id="124" name="Google Shape;124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2376150" y="3471250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22"/>
          <p:cNvCxnSpPr/>
          <p:nvPr/>
        </p:nvCxnSpPr>
        <p:spPr>
          <a:xfrm rot="10800000">
            <a:off x="2361675" y="1302550"/>
            <a:ext cx="0" cy="29919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2"/>
          <p:cNvCxnSpPr/>
          <p:nvPr/>
        </p:nvCxnSpPr>
        <p:spPr>
          <a:xfrm>
            <a:off x="2361675" y="4294450"/>
            <a:ext cx="6092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22"/>
          <p:cNvSpPr txBox="1"/>
          <p:nvPr/>
        </p:nvSpPr>
        <p:spPr>
          <a:xfrm>
            <a:off x="3354075" y="4359675"/>
            <a:ext cx="4107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Progress in Python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60375" y="1958475"/>
            <a:ext cx="237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Difficulty of Problems You Can Solve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2376150" y="3490325"/>
            <a:ext cx="3694625" cy="796900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watermark.jpg" id="138" name="Google Shape;13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2376150" y="3471250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4224625" y="3010013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Loops and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Logic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7" name="Google Shape;147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3"/>
          <p:cNvCxnSpPr/>
          <p:nvPr/>
        </p:nvCxnSpPr>
        <p:spPr>
          <a:xfrm rot="10800000">
            <a:off x="2361675" y="1302550"/>
            <a:ext cx="0" cy="29919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3"/>
          <p:cNvCxnSpPr/>
          <p:nvPr/>
        </p:nvCxnSpPr>
        <p:spPr>
          <a:xfrm>
            <a:off x="2361675" y="4294450"/>
            <a:ext cx="6092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23"/>
          <p:cNvSpPr txBox="1"/>
          <p:nvPr/>
        </p:nvSpPr>
        <p:spPr>
          <a:xfrm>
            <a:off x="3354075" y="4359675"/>
            <a:ext cx="4107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Progress in Python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2376150" y="3490325"/>
            <a:ext cx="3694625" cy="796900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watermark.jpg" id="152" name="Google Shape;152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/>
          <p:nvPr/>
        </p:nvSpPr>
        <p:spPr>
          <a:xfrm>
            <a:off x="6070775" y="1660354"/>
            <a:ext cx="1100998" cy="1830001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54" name="Google Shape;154;p23"/>
          <p:cNvSpPr/>
          <p:nvPr/>
        </p:nvSpPr>
        <p:spPr>
          <a:xfrm flipH="1" rot="10800000">
            <a:off x="5197827" y="1913709"/>
            <a:ext cx="863064" cy="1557541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85200C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55" name="Google Shape;155;p23"/>
          <p:cNvSpPr txBox="1"/>
          <p:nvPr/>
        </p:nvSpPr>
        <p:spPr>
          <a:xfrm>
            <a:off x="60375" y="1958475"/>
            <a:ext cx="237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Difficulty of Problems You Can Solve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3699150" y="1660350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Functions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2376150" y="3471250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4224625" y="3010013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Loops and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Logic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patient with yourself.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5" name="Google Shape;165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patient with yourself.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Take your time to practice the material.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2" name="Google Shape;172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patient with yourself.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Take your time to practice the material.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getting excited about your new skills and start thinking about personal projects.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" name="Google Shape;179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learn how to create functions with Python!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6" name="Google Shape;18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ef Keyword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2" name="Google Shape;192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" name="Google Shape;193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a function requires a very specific syntax, including the </a:t>
            </a: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keyword, correct indentation, and proper structure.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an overview of a Python function structure.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0" name="Google Shape;200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" name="Google Shape;207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8" name="Google Shape;208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0"/>
          <p:cNvSpPr/>
          <p:nvPr/>
        </p:nvSpPr>
        <p:spPr>
          <a:xfrm>
            <a:off x="223325" y="2807200"/>
            <a:ext cx="2016300" cy="766800"/>
          </a:xfrm>
          <a:prstGeom prst="wedgeRoundRectCallout">
            <a:avLst>
              <a:gd fmla="val 55394" name="adj1"/>
              <a:gd fmla="val -214544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Keyword telling Python this is a function.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1"/>
          <p:cNvSpPr/>
          <p:nvPr/>
        </p:nvSpPr>
        <p:spPr>
          <a:xfrm>
            <a:off x="5131400" y="2958125"/>
            <a:ext cx="2541600" cy="1110900"/>
          </a:xfrm>
          <a:prstGeom prst="wedgeRoundRectCallout">
            <a:avLst>
              <a:gd fmla="val -85628" name="adj1"/>
              <a:gd fmla="val -17009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You decide on the function name. Notice “snake casing”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" name="Google Shape;225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" name="Google Shape;22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/>
          <p:nvPr/>
        </p:nvSpPr>
        <p:spPr>
          <a:xfrm>
            <a:off x="5131400" y="2958125"/>
            <a:ext cx="3018600" cy="1140900"/>
          </a:xfrm>
          <a:prstGeom prst="wedgeRoundRectCallout">
            <a:avLst>
              <a:gd fmla="val -85628" name="adj1"/>
              <a:gd fmla="val -17009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Snake casing is all lowercase with underscores between words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4" name="Google Shape;234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5" name="Google Shape;235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3"/>
          <p:cNvSpPr/>
          <p:nvPr/>
        </p:nvSpPr>
        <p:spPr>
          <a:xfrm>
            <a:off x="5131400" y="2958125"/>
            <a:ext cx="3018600" cy="1140900"/>
          </a:xfrm>
          <a:prstGeom prst="wedgeRoundRectCallout">
            <a:avLst>
              <a:gd fmla="val -15400" name="adj1"/>
              <a:gd fmla="val -171702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Parenthesis at the end. Later on we can pass in arguments/parameters into the function.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3" name="Google Shape;24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4" name="Google Shape;24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4"/>
          <p:cNvSpPr/>
          <p:nvPr/>
        </p:nvSpPr>
        <p:spPr>
          <a:xfrm>
            <a:off x="5131400" y="2958125"/>
            <a:ext cx="3018600" cy="1140900"/>
          </a:xfrm>
          <a:prstGeom prst="wedgeRoundRectCallout">
            <a:avLst>
              <a:gd fmla="val -9401" name="adj1"/>
              <a:gd fmla="val -17487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 colon indicates an upcoming indented block. Everything indented is then “inside” the function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5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2" name="Google Shape;252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3" name="Google Shape;25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5"/>
          <p:cNvSpPr/>
          <p:nvPr/>
        </p:nvSpPr>
        <p:spPr>
          <a:xfrm>
            <a:off x="5584150" y="3688600"/>
            <a:ext cx="3018600" cy="1140900"/>
          </a:xfrm>
          <a:prstGeom prst="wedgeRoundRectCallout">
            <a:avLst>
              <a:gd fmla="val -129395" name="adj1"/>
              <a:gd fmla="val -135722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Optional: Multi-line string to describe function.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6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1" name="Google Shape;261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2" name="Google Shape;262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6"/>
          <p:cNvSpPr/>
          <p:nvPr/>
        </p:nvSpPr>
        <p:spPr>
          <a:xfrm>
            <a:off x="60325" y="3181475"/>
            <a:ext cx="2179200" cy="1140900"/>
          </a:xfrm>
          <a:prstGeom prst="wedgeRoundRectCallout">
            <a:avLst>
              <a:gd fmla="val 61090" name="adj1"/>
              <a:gd fmla="val -134133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Note: Everything inside the function is indented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37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print(“Hello”)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0" name="Google Shape;270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1" name="Google Shape;271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7"/>
          <p:cNvSpPr/>
          <p:nvPr/>
        </p:nvSpPr>
        <p:spPr>
          <a:xfrm>
            <a:off x="60325" y="3181475"/>
            <a:ext cx="2179200" cy="1140900"/>
          </a:xfrm>
          <a:prstGeom prst="wedgeRoundRectCallout">
            <a:avLst>
              <a:gd fmla="val 65799" name="adj1"/>
              <a:gd fmla="val -46825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Code then goes inside the function.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8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print(“Hello”)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name_of_function()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Hello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8"/>
          <p:cNvSpPr/>
          <p:nvPr/>
        </p:nvSpPr>
        <p:spPr>
          <a:xfrm>
            <a:off x="5946375" y="3175425"/>
            <a:ext cx="2179200" cy="1140900"/>
          </a:xfrm>
          <a:prstGeom prst="wedgeRoundRectCallout">
            <a:avLst>
              <a:gd fmla="val -116762" name="adj1"/>
              <a:gd fmla="val 28315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Function can then be executed/called to see the result.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39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print(“Hello”)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name_of_function()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Hello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8" name="Google Shape;288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9" name="Google Shape;289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/>
          <p:nvPr/>
        </p:nvSpPr>
        <p:spPr>
          <a:xfrm>
            <a:off x="6791550" y="3809300"/>
            <a:ext cx="2179200" cy="1140900"/>
          </a:xfrm>
          <a:prstGeom prst="wedgeRoundRectCallout">
            <a:avLst>
              <a:gd fmla="val -262201" name="adj1"/>
              <a:gd fmla="val 1508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Resulting Output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40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name_of_function(name):</a:t>
            </a:r>
            <a:endParaRPr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 ”+name)</a:t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name_of_function(“Jose”)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Hello Jose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7" name="Google Shape;297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8" name="Google Shape;298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0"/>
          <p:cNvSpPr/>
          <p:nvPr/>
        </p:nvSpPr>
        <p:spPr>
          <a:xfrm>
            <a:off x="6791550" y="3809300"/>
            <a:ext cx="2179200" cy="1140900"/>
          </a:xfrm>
          <a:prstGeom prst="wedgeRoundRectCallout">
            <a:avLst>
              <a:gd fmla="val -55539" name="adj1"/>
              <a:gd fmla="val -23942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Functions can accept arguments to be passed by the user.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41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name_of_function(name):</a:t>
            </a:r>
            <a:endParaRPr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 ”+name)</a:t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name_of_function(“Jose”)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Hello Jose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1"/>
          <p:cNvSpPr/>
          <p:nvPr/>
        </p:nvSpPr>
        <p:spPr>
          <a:xfrm>
            <a:off x="6791550" y="3809300"/>
            <a:ext cx="2179200" cy="1140900"/>
          </a:xfrm>
          <a:prstGeom prst="wedgeRoundRectCallout">
            <a:avLst>
              <a:gd fmla="val -55539" name="adj1"/>
              <a:gd fmla="val -23942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Functions can accept arguments to be passed by the user.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41"/>
          <p:cNvSpPr/>
          <p:nvPr/>
        </p:nvSpPr>
        <p:spPr>
          <a:xfrm>
            <a:off x="4950325" y="2927950"/>
            <a:ext cx="1352400" cy="4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1"/>
          <p:cNvSpPr/>
          <p:nvPr/>
        </p:nvSpPr>
        <p:spPr>
          <a:xfrm>
            <a:off x="5935825" y="1100200"/>
            <a:ext cx="1218000" cy="4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1"/>
          <p:cNvSpPr/>
          <p:nvPr/>
        </p:nvSpPr>
        <p:spPr>
          <a:xfrm>
            <a:off x="4070425" y="3859100"/>
            <a:ext cx="1352400" cy="4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1"/>
          <p:cNvSpPr/>
          <p:nvPr/>
        </p:nvSpPr>
        <p:spPr>
          <a:xfrm>
            <a:off x="1898575" y="4342100"/>
            <a:ext cx="1047600" cy="4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Typically we use the </a:t>
            </a: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keyword to send back the result of the function, instead of just printing it out.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allows us to assign the output of the function to a new variable.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9" name="Google Shape;319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" name="Google Shape;320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have a deeper discussion of the </a:t>
            </a: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keyword later on in the notebook.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7" name="Google Shape;327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8" name="Google Shape;32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add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_function(num1,num2):</a:t>
            </a:r>
            <a:endParaRPr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return num1+num2</a:t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result = add_function(1,2)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print(result)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5" name="Google Shape;335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6" name="Google Shape;336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4"/>
          <p:cNvSpPr/>
          <p:nvPr/>
        </p:nvSpPr>
        <p:spPr>
          <a:xfrm>
            <a:off x="6694950" y="2294025"/>
            <a:ext cx="2179200" cy="1140900"/>
          </a:xfrm>
          <a:prstGeom prst="wedgeRoundRectCallout">
            <a:avLst>
              <a:gd fmla="val -186295" name="adj1"/>
              <a:gd fmla="val -7328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Return allows to save the result to a variable.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5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add_function(num1,num2):</a:t>
            </a:r>
            <a:endParaRPr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return num1+num2</a:t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result = add_function(1,2)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print(result)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5" name="Google Shape;345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5"/>
          <p:cNvSpPr/>
          <p:nvPr/>
        </p:nvSpPr>
        <p:spPr>
          <a:xfrm>
            <a:off x="6694950" y="2294025"/>
            <a:ext cx="2179200" cy="1140900"/>
          </a:xfrm>
          <a:prstGeom prst="wedgeRoundRectCallout">
            <a:avLst>
              <a:gd fmla="val -186295" name="adj1"/>
              <a:gd fmla="val -7328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Most functions will use return. Rarely will a function only print()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start creating functions with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3" name="Google Shape;353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4" name="Google Shape;354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Basic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0" name="Google Shape;360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1" name="Google Shape;361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eturn Statement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7" name="Google Shape;367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8" name="Google Shape;368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Functions with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Interactions Between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1" name="Google Shape;381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2" name="Google Shape;382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Typically a python script or notebook contains several functions interacting with each other.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create a few functions to mimic the carnival guessing game “Three Cup Monte”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6" name="Google Shape;396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7" name="Google Shape;397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2"/>
          <p:cNvSpPr/>
          <p:nvPr/>
        </p:nvSpPr>
        <p:spPr>
          <a:xfrm>
            <a:off x="2239625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2"/>
          <p:cNvSpPr/>
          <p:nvPr/>
        </p:nvSpPr>
        <p:spPr>
          <a:xfrm>
            <a:off x="399240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2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6" name="Google Shape;406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7" name="Google Shape;407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3"/>
          <p:cNvSpPr/>
          <p:nvPr/>
        </p:nvSpPr>
        <p:spPr>
          <a:xfrm>
            <a:off x="2239625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3"/>
          <p:cNvSpPr/>
          <p:nvPr/>
        </p:nvSpPr>
        <p:spPr>
          <a:xfrm>
            <a:off x="3992400" y="106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3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3"/>
          <p:cNvSpPr/>
          <p:nvPr/>
        </p:nvSpPr>
        <p:spPr>
          <a:xfrm>
            <a:off x="4281638" y="3208400"/>
            <a:ext cx="519300" cy="519300"/>
          </a:xfrm>
          <a:prstGeom prst="ellipse">
            <a:avLst/>
          </a:prstGeom>
          <a:solidFill>
            <a:srgbClr val="CC412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7" name="Google Shape;417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8" name="Google Shape;41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4"/>
          <p:cNvSpPr/>
          <p:nvPr/>
        </p:nvSpPr>
        <p:spPr>
          <a:xfrm>
            <a:off x="2239625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4"/>
          <p:cNvSpPr/>
          <p:nvPr/>
        </p:nvSpPr>
        <p:spPr>
          <a:xfrm>
            <a:off x="399240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4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5"/>
          <p:cNvSpPr/>
          <p:nvPr/>
        </p:nvSpPr>
        <p:spPr>
          <a:xfrm>
            <a:off x="2464375" y="20954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5"/>
          <p:cNvSpPr/>
          <p:nvPr/>
        </p:nvSpPr>
        <p:spPr>
          <a:xfrm>
            <a:off x="3992400" y="2962350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5"/>
          <p:cNvSpPr/>
          <p:nvPr/>
        </p:nvSpPr>
        <p:spPr>
          <a:xfrm>
            <a:off x="5548900" y="186432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5"/>
          <p:cNvSpPr/>
          <p:nvPr/>
        </p:nvSpPr>
        <p:spPr>
          <a:xfrm>
            <a:off x="1190525" y="2844650"/>
            <a:ext cx="890100" cy="9759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5"/>
          <p:cNvSpPr/>
          <p:nvPr/>
        </p:nvSpPr>
        <p:spPr>
          <a:xfrm flipH="1">
            <a:off x="7063375" y="2962350"/>
            <a:ext cx="890100" cy="9759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9" name="Google Shape;439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0" name="Google Shape;440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6"/>
          <p:cNvSpPr/>
          <p:nvPr/>
        </p:nvSpPr>
        <p:spPr>
          <a:xfrm>
            <a:off x="2239625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6"/>
          <p:cNvSpPr/>
          <p:nvPr/>
        </p:nvSpPr>
        <p:spPr>
          <a:xfrm>
            <a:off x="399240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6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56"/>
          <p:cNvSpPr/>
          <p:nvPr/>
        </p:nvSpPr>
        <p:spPr>
          <a:xfrm rot="2700000">
            <a:off x="1089123" y="1483387"/>
            <a:ext cx="1201092" cy="6296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0" name="Google Shape;450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1" name="Google Shape;451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57"/>
          <p:cNvSpPr/>
          <p:nvPr/>
        </p:nvSpPr>
        <p:spPr>
          <a:xfrm>
            <a:off x="2239625" y="156892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7"/>
          <p:cNvSpPr/>
          <p:nvPr/>
        </p:nvSpPr>
        <p:spPr>
          <a:xfrm>
            <a:off x="399240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7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7"/>
          <p:cNvSpPr/>
          <p:nvPr/>
        </p:nvSpPr>
        <p:spPr>
          <a:xfrm rot="2700000">
            <a:off x="1089123" y="1483387"/>
            <a:ext cx="1201092" cy="6296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57"/>
          <p:cNvSpPr/>
          <p:nvPr/>
        </p:nvSpPr>
        <p:spPr>
          <a:xfrm>
            <a:off x="2515763" y="3298300"/>
            <a:ext cx="519300" cy="519300"/>
          </a:xfrm>
          <a:prstGeom prst="ellipse">
            <a:avLst/>
          </a:prstGeom>
          <a:solidFill>
            <a:srgbClr val="CC412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simple game won’t actually show the cups or ball, instead we will simply mimic the effect with a Python list.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simple version will also not show the shuffle to the user, so the guess is completely random.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3" name="Google Shape;463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4" name="Google Shape;464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Function Practice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Problems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0" name="Google Shape;470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1" name="Google Shape;471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Learning functions increases your Python skills exponentially.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also means that the difficulties of problems you can solve also increases drastically.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8" name="Google Shape;478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9" name="Google Shape;479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some practice with converting problem statements into Python code.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go through a series of Function Practice Exercises.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 this lecture we will go through the solutions.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6" name="Google Shape;486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7" name="Google Shape;487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two options for this material: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 out the exercises yourself, then go through the solutions.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Treat the solutions as a code-along lecture for more guided practice.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4" name="Google Shape;494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5" name="Google Shape;495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3"/>
          <p:cNvSpPr txBox="1"/>
          <p:nvPr>
            <p:ph type="ctrTitle"/>
          </p:nvPr>
        </p:nvSpPr>
        <p:spPr>
          <a:xfrm>
            <a:off x="352475" y="2459975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Function Practice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Problems 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Level 2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1" name="Google Shape;501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2" name="Google Shape;502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Methods and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OVERVIEW</a:t>
            </a:r>
            <a:endParaRPr/>
          </a:p>
        </p:txBody>
      </p:sp>
      <p:pic>
        <p:nvPicPr>
          <p:cNvPr descr="watermark.jpg" id="509" name="Google Shape;509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0" name="Google Shape;510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Methods and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SOLUTIONS</a:t>
            </a:r>
            <a:endParaRPr/>
          </a:p>
        </p:txBody>
      </p:sp>
      <p:pic>
        <p:nvPicPr>
          <p:cNvPr descr="watermark.jpg" id="517" name="Google Shape;517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8" name="Google Shape;518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Lambda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Map and Filter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4" name="Google Shape;524;p6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5" name="Google Shape;525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*args and **kwargs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1" name="Google Shape;531;p6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2" name="Google Shape;532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